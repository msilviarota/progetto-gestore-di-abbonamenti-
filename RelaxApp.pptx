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9" r:id="rId11"/>
    <p:sldId id="264" r:id="rId12"/>
    <p:sldId id="270" r:id="rId13"/>
    <p:sldId id="268" r:id="rId14"/>
    <p:sldId id="271" r:id="rId15"/>
    <p:sldId id="273" r:id="rId16"/>
    <p:sldId id="272" r:id="rId17"/>
  </p:sldIdLst>
  <p:sldSz cx="9144000" cy="5143500" type="screen16x9"/>
  <p:notesSz cx="5143500" cy="9144000"/>
  <p:embeddedFontLst>
    <p:embeddedFont>
      <p:font typeface="Quattrocento Sans" panose="020B05020500000200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de5acb78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ede5acb78b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ede5acb78b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1936C981-F1D9-016B-6FD1-EBFBD88F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39AEEAD4-6D01-6A6E-8576-7C4C1739A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12F9A3A5-BFA4-C494-C3C8-A87F88C69A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0ED90709-5494-ACEA-EAFC-0F04D5750C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96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85F8BE6D-452D-3663-A986-FBF1A80E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899C1456-1C9A-87D0-744F-88FB88AFB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EC43A7DC-60C5-8858-140C-535E61A9F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5C005101-2451-C513-4867-A9C5B3A1DA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9562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A8CBEFE4-1A91-47D6-E0A7-A07D650E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39F9720C-65DF-CDBF-DBC2-46FBCAF70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4174F1D3-F512-7D32-6028-641B6DFCC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B97B0814-E0A7-0019-37C9-5B2671C589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9943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18FFD343-71DD-17C1-2B0D-80C1700F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8A22EC14-DFCF-CF3F-FE15-F035EDFDF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AE2EF6DF-DC04-B8B7-7243-52F56F486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DB45F89B-BEC5-CF55-D218-58D7F7DE2D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931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42DE44C3-8496-B93A-01BB-4439DBE0A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4F70FD5B-DF79-C7A8-6FAF-B24B5EDA7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4720DCBE-475F-BAF0-1C14-52BD5994D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96AC2719-508A-59FA-4DCE-E20501C096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755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37CF65FF-A752-B0E7-1A2E-040197F1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8BB56AA7-C799-B192-4721-1F4887129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E7F0E839-F632-34EF-59BA-0A9C12002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D136B98A-827C-14A4-1D14-CF7B9DA71A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9803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1A495729-78A5-18C7-705D-E0686BA2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e5acb78b_0_38:notes">
            <a:extLst>
              <a:ext uri="{FF2B5EF4-FFF2-40B4-BE49-F238E27FC236}">
                <a16:creationId xmlns:a16="http://schemas.microsoft.com/office/drawing/2014/main" id="{9D36382F-9DD6-7E4D-2DD5-3AD3AF8DB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ede5acb78b_0_38:notes">
            <a:extLst>
              <a:ext uri="{FF2B5EF4-FFF2-40B4-BE49-F238E27FC236}">
                <a16:creationId xmlns:a16="http://schemas.microsoft.com/office/drawing/2014/main" id="{DAE4B482-F09A-2F1E-F25B-A3DB33FDA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ede5acb78b_0_38:notes">
            <a:extLst>
              <a:ext uri="{FF2B5EF4-FFF2-40B4-BE49-F238E27FC236}">
                <a16:creationId xmlns:a16="http://schemas.microsoft.com/office/drawing/2014/main" id="{59AFE8B4-1911-0FFB-4942-20B2773475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799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-1645920"/>
            <a:ext cx="6400800" cy="6400800"/>
          </a:xfrm>
          <a:prstGeom prst="ellipse">
            <a:avLst/>
          </a:prstGeom>
          <a:solidFill>
            <a:srgbClr val="1D6FE8">
              <a:alpha val="10980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772400" y="365760"/>
            <a:ext cx="3017520" cy="3017520"/>
          </a:xfrm>
          <a:prstGeom prst="ellipse">
            <a:avLst/>
          </a:prstGeom>
          <a:solidFill>
            <a:srgbClr val="00C2E0">
              <a:alpha val="16078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828800" y="2926080"/>
            <a:ext cx="4572000" cy="4572000"/>
          </a:xfrm>
          <a:prstGeom prst="ellipse">
            <a:avLst/>
          </a:prstGeom>
          <a:solidFill>
            <a:srgbClr val="FF6B35">
              <a:alpha val="10980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/home/claude/logo_nobg.png"/>
          <p:cNvPicPr preferRelativeResize="0"/>
          <p:nvPr/>
        </p:nvPicPr>
        <p:blipFill rotWithShape="1">
          <a:blip r:embed="rId3">
            <a:alphaModFix/>
          </a:blip>
          <a:srcRect l="3710" t="1549" r="2128" b="1013"/>
          <a:stretch/>
        </p:blipFill>
        <p:spPr>
          <a:xfrm>
            <a:off x="3029025" y="466375"/>
            <a:ext cx="3066975" cy="31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967675" y="3673224"/>
            <a:ext cx="7315200" cy="13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Progetto di: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Pittori Gabriele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Rota Maria Silvia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Giovagnini Filippo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Tagliaventi Giacomo</a:t>
            </a: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endParaRPr sz="13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E1A"/>
          </a:solidFill>
          <a:ln w="12700" cap="flat" cmpd="sng">
            <a:solidFill>
              <a:srgbClr val="0A0E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4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64008"/>
            <a:ext cx="804672" cy="80467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1143000" y="5486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lang="en-US" sz="1500" b="1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5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RCHITETTURA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43000" y="47548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Requisiti Non Funzionali (RNF)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Come abbiamo tradotto i vincoli aziendali in specifiche software quantitative</a:t>
            </a:r>
            <a:r>
              <a:rPr lang="en-US" sz="1200" i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4320" y="1554480"/>
            <a:ext cx="8595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905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27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38912" y="1719072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1D6FE8"/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38912" y="1719072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RNF-1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554480" y="16459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6FE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D6FE8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554480" y="1938528"/>
            <a:ext cx="67665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Il checkout e il pagamento devono completarsi in un massimo di 3 passaggi dalla conferma d'acquisto.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2633472"/>
            <a:ext cx="8595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317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38912" y="2798064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38912" y="2798064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RNF-2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554480" y="272491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SICUREZZA — FOCUS PASSWORD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54480" y="3017520"/>
            <a:ext cx="67665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dati di pagamento e le credenziali dell'account (comprese le password utente) devono essere trasmessi e memorizzati in modo strettamente cifrato.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092440" y="2889504"/>
            <a:ext cx="438912" cy="438912"/>
          </a:xfrm>
          <a:prstGeom prst="ellipse">
            <a:avLst/>
          </a:prstGeom>
          <a:solidFill>
            <a:srgbClr val="EF4444">
              <a:alpha val="14901"/>
            </a:srgbClr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092440" y="28803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attrocento Sans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74320" y="3712464"/>
            <a:ext cx="859536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905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27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38912" y="3877056"/>
            <a:ext cx="960120" cy="365760"/>
          </a:xfrm>
          <a:prstGeom prst="roundRect">
            <a:avLst>
              <a:gd name="adj" fmla="val 17500"/>
            </a:avLst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38912" y="3877056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RNF-3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54480" y="380390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QUALITÀ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554480" y="4096512"/>
            <a:ext cx="67665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Il codice sorgente deve essere documentato tramite docstring, in particolare nelle componenti sensibili (Service e Repository).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EF4444">
              <a:alpha val="7843"/>
            </a:srgbClr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C2E0">
              <a:alpha val="7843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IL PROBLEMA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L'Inferno della Frammentazione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1234440"/>
            <a:ext cx="4069080" cy="3611880"/>
          </a:xfrm>
          <a:prstGeom prst="roundRect">
            <a:avLst>
              <a:gd name="adj" fmla="val 4051"/>
            </a:avLst>
          </a:prstGeom>
          <a:solidFill>
            <a:srgbClr val="1E293B"/>
          </a:solidFill>
          <a:ln w="254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48640" y="13716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APP SINGOLE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02920" y="1965960"/>
            <a:ext cx="3794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Dispersione dei canali di acquisto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85800" y="231343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mille account e fatturazioni separate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288036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Mancanza di controllo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5800" y="322783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scadenze scoperte solo dopo il prelievo, controllando vecchie email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2920" y="379476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Condivisione rischiosa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85800" y="414223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cedere fisicamente password personali ad amici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20480" y="1179415"/>
            <a:ext cx="4069200" cy="3612000"/>
          </a:xfrm>
          <a:prstGeom prst="roundRect">
            <a:avLst>
              <a:gd name="adj" fmla="val 4051"/>
            </a:avLst>
          </a:prstGeom>
          <a:solidFill>
            <a:srgbClr val="1A2744"/>
          </a:solidFill>
          <a:ln w="254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983480" y="13716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00C2E0"/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983480" y="13716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RELAXAPP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904405" y="1943100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8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lang="en-US" sz="160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Elimina necessita di più abbonamenti diversi nelle altre app (riduce la dispersione)</a:t>
            </a:r>
            <a:endParaRPr sz="1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904468" y="2421350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8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lang="en-US" sz="16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Garantisce un software leggero e resiliente nel tempo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925743" y="2899588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8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lang="en-US" sz="16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Scambio agile di Account tra amici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49068" y="3377850"/>
            <a:ext cx="361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00"/>
              <a:buFont typeface="Calibri"/>
              <a:buNone/>
            </a:pPr>
            <a:r>
              <a:rPr lang="en-US" sz="18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lang="en-US" sz="16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1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Evita blocchi inaspettati dell’abbonamento, avvisando con preavviso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LA SOLUZIONE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lang="en-US" sz="2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RelaxApp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 click e più relax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65760" y="123444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905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lang="en-US" sz="13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RelaxApp</a:t>
            </a:r>
            <a:r>
              <a:rPr lang="en-US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non riproduce direttamente il contenuto, ma agisce come un'interfaccia / orchestratore tra l'utente e i provider esterni.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65760" y="2194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I 3 PILASTRI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65760" y="2606040"/>
            <a:ext cx="2651760" cy="233172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254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1371600" y="2788920"/>
            <a:ext cx="640080" cy="640080"/>
          </a:xfrm>
          <a:prstGeom prst="ellipse">
            <a:avLst/>
          </a:prstGeom>
          <a:solidFill>
            <a:srgbClr val="1D6FE8">
              <a:alpha val="85098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371600" y="2788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3520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 Unificato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3950208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Compri, gestisci e disdici tutti i tuoi abbonamenti da un unico account centrale.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200400" y="2606040"/>
            <a:ext cx="2651760" cy="233172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254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206240" y="2788920"/>
            <a:ext cx="640080" cy="640080"/>
          </a:xfrm>
          <a:prstGeom prst="ellipse">
            <a:avLst/>
          </a:prstGeom>
          <a:solidFill>
            <a:srgbClr val="00C2E0">
              <a:alpha val="85098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206240" y="2788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291840" y="3520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Notifiche Preventive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383280" y="3950208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Il sistema monitora il tempo; niente più addebiti a sorpresa, ricevi un avviso interno prima della scadenza.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035040" y="2606040"/>
            <a:ext cx="2651760" cy="2331720"/>
          </a:xfrm>
          <a:prstGeom prst="roundRect">
            <a:avLst>
              <a:gd name="adj" fmla="val 5882"/>
            </a:avLst>
          </a:prstGeom>
          <a:solidFill>
            <a:srgbClr val="111827"/>
          </a:solidFill>
          <a:ln w="254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040880" y="2788920"/>
            <a:ext cx="640080" cy="640080"/>
          </a:xfrm>
          <a:prstGeom prst="ellipse">
            <a:avLst/>
          </a:prstGeom>
          <a:solidFill>
            <a:srgbClr val="FF6B35">
              <a:alpha val="85098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040880" y="2788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126480" y="3520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Presta ad un amico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217920" y="3950208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Presti l'abbonamento agli amici in un click, senza mai esporre o cedere le tue password personali.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lang="en-US" sz="1500" b="1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ESEMPIO</a:t>
            </a:r>
            <a:r>
              <a:rPr lang="en-US" sz="15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 DI CASO D'USO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4754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CDU11: Presta Abbonamento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274320" y="1078992"/>
            <a:ext cx="8595360" cy="41148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65760" y="107899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FASE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828800" y="1078992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METODO TRADIZIONALE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577840" y="1078992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RELAXAPP</a:t>
            </a:r>
            <a:r>
              <a:rPr lang="en-US" sz="10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(CDU11)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74320" y="1536192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47472" y="1792224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00C2E0">
              <a:alpha val="20000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47472" y="1792224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1. Richiesta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828800" y="1591056"/>
            <a:ext cx="3474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L'amico chiede le credenziali su WhatsApp.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577840" y="1591056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L'utente apre l'app, seleziona l'abbonamento attivo e clicca "Presta".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74320" y="2432304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47472" y="2688336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00C2E0">
              <a:alpha val="20000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347472" y="2688336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2. Controllo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828800" y="2487168"/>
            <a:ext cx="3474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Nessun controllo software (rischio sub-affitto / violazione TOS).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577840" y="248716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lang="en-US" sz="13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 Il sistema valida lato Control verificando che l'email </a:t>
            </a:r>
            <a:r>
              <a:rPr lang="en-US" sz="10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corrisponde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a un account registrato.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74320" y="3328416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47472" y="3584448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00C2E0">
              <a:alpha val="20000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47472" y="3584448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3. Sicurezza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828800" y="3383280"/>
            <a:ext cx="3474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Cessione della Password: invio in chiaro (violazione privacy).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577840" y="338328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lang="en-US" sz="13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 Zero Password Condivise: delega di sessione temporanea + notifica </a:t>
            </a:r>
            <a:r>
              <a:rPr lang="en-US" sz="10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di accesso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274320" y="4224528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347472" y="4480560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00C2E0">
              <a:alpha val="20000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47472" y="4480560"/>
            <a:ext cx="12984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4. Risultato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828800" y="4279392"/>
            <a:ext cx="34747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Accesso perpetuo finché non si cambia password.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577840" y="4279392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alibri"/>
              <a:buNone/>
            </a:pPr>
            <a:r>
              <a:rPr lang="en-US" sz="1300" b="1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1000" b="0" i="0" u="none" strike="noStrike" cap="non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Accesso limitato nel tempo. Alla scadenza, revoca automatica dei permessi.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E1A"/>
          </a:solidFill>
          <a:ln w="12700" cap="flat" cmpd="sng">
            <a:solidFill>
              <a:srgbClr val="0A0E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8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168" y="64008"/>
            <a:ext cx="804672" cy="8046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1143000" y="5486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lang="en-US" sz="15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ARCHITETTURA DEI DATI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43000" y="47548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Organizzazione della Persistenza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Separazione netta tra logica di codice e storage fisico dei dati.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4320" y="1554480"/>
            <a:ext cx="4160520" cy="3246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254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16916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D6FE8"/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57200" y="16916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📁  repository/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017520" y="169164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6FE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D6FE8"/>
                </a:solidFill>
                <a:latin typeface="Calibri"/>
                <a:ea typeface="Calibri"/>
                <a:cs typeface="Calibri"/>
                <a:sym typeface="Calibri"/>
              </a:rPr>
              <a:t>LA LOGICA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2212848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Contiene le classi di interfacciamento software: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2523744"/>
            <a:ext cx="3794760" cy="5486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94360" y="256032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6FE8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D6FE8"/>
                </a:solidFill>
                <a:latin typeface="Courier New"/>
                <a:ea typeface="Courier New"/>
                <a:cs typeface="Courier New"/>
                <a:sym typeface="Courier New"/>
              </a:rPr>
              <a:t>repositoryUtente.py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6FE8"/>
              </a:buClr>
              <a:buSzPts val="950"/>
              <a:buFont typeface="Courier New"/>
              <a:buNone/>
            </a:pPr>
            <a:r>
              <a:rPr lang="en-US" sz="950" b="0" i="0" u="none" strike="noStrike" cap="none">
                <a:solidFill>
                  <a:srgbClr val="1D6FE8"/>
                </a:solidFill>
                <a:latin typeface="Courier New"/>
                <a:ea typeface="Courier New"/>
                <a:cs typeface="Courier New"/>
                <a:sym typeface="Courier New"/>
              </a:rPr>
              <a:t>repositoryAbbonamento.py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3200400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Implementano i metodi per caricare e salvare i dati.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3584448"/>
            <a:ext cx="3794760" cy="1078992"/>
          </a:xfrm>
          <a:prstGeom prst="roundRect">
            <a:avLst>
              <a:gd name="adj" fmla="val 6780"/>
            </a:avLst>
          </a:prstGeom>
          <a:solidFill>
            <a:srgbClr val="FFF7ED"/>
          </a:solidFill>
          <a:ln w="152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566928" y="36576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⚙️  Principio GRASP — Pure Fabrication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66928" y="3950208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 artificiali create per non appesantire i modelli di dominio con dettagli di storage.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663440" y="1554480"/>
            <a:ext cx="4206240" cy="3246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254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2700000" algn="bl" rotWithShape="0">
              <a:srgbClr val="000000">
                <a:alpha val="109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846320" y="16916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846320" y="16916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repository2/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543800" y="169164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IL DATABASE FISICO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46320" y="221284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Contiene i file effettivi, in formato JSON testuale schemaless.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846320" y="2761488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5225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956048" y="2834640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🎯  Beneficio architetturale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956048" y="3127248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 in futuro si passasse a MySQL, basterebbe riscrivere solo le classi in repository/, lasciando intatta tutta la logica di models/ e GUI.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46320" y="3822192"/>
            <a:ext cx="3840480" cy="841248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 w="152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956048" y="389534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Perché JSON, non Pickle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956048" y="4169664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Formato testuale universale e sicuro, a differenza di Pickle che espone a rischi di esecuzione di codice arbitrario.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4434840" y="3154680"/>
            <a:ext cx="228600" cy="0"/>
          </a:xfrm>
          <a:prstGeom prst="straightConnector1">
            <a:avLst/>
          </a:prstGeom>
          <a:noFill/>
          <a:ln w="254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8"/>
          <p:cNvSpPr/>
          <p:nvPr/>
        </p:nvSpPr>
        <p:spPr>
          <a:xfrm>
            <a:off x="4297680" y="29718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D6FE8">
              <a:alpha val="10196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7315200" y="1371600"/>
            <a:ext cx="3657600" cy="3657600"/>
          </a:xfrm>
          <a:prstGeom prst="ellipse">
            <a:avLst/>
          </a:prstGeom>
          <a:solidFill>
            <a:srgbClr val="00C2E0">
              <a:alpha val="14117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6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nostro motto è lo stesso di python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914400" y="1920240"/>
            <a:ext cx="7315200" cy="1691640"/>
          </a:xfrm>
          <a:prstGeom prst="roundRect">
            <a:avLst>
              <a:gd name="adj" fmla="val 8649"/>
            </a:avLst>
          </a:prstGeom>
          <a:solidFill>
            <a:srgbClr val="111827"/>
          </a:solidFill>
          <a:ln w="1905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188720" y="2084832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“La leggibilità conta. Progetta il codice come se chi dovesse mantenerlo fosse uno psicopatico violento che sa dove abiti.”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188720" y="3200400"/>
            <a:ext cx="6766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— John F. Woods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9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6461500" y="1055425"/>
            <a:ext cx="3657600" cy="3657600"/>
          </a:xfrm>
          <a:prstGeom prst="ellipse">
            <a:avLst/>
          </a:prstGeom>
          <a:solidFill>
            <a:srgbClr val="00C2E0">
              <a:alpha val="14120"/>
            </a:srgbClr>
          </a:solidFill>
          <a:ln w="1270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46175" y="4436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 abbiamo lavorato?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51575" y="845225"/>
            <a:ext cx="2336100" cy="2266800"/>
          </a:xfrm>
          <a:prstGeom prst="roundRect">
            <a:avLst>
              <a:gd name="adj" fmla="val 8649"/>
            </a:avLst>
          </a:prstGeom>
          <a:solidFill>
            <a:srgbClr val="111827"/>
          </a:solidFill>
          <a:ln w="1905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0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/>
          <p:nvPr/>
        </p:nvSpPr>
        <p:spPr>
          <a:xfrm>
            <a:off x="2992925" y="867250"/>
            <a:ext cx="2336100" cy="1677900"/>
          </a:xfrm>
          <a:prstGeom prst="roundRect">
            <a:avLst>
              <a:gd name="adj" fmla="val 8649"/>
            </a:avLst>
          </a:prstGeom>
          <a:solidFill>
            <a:srgbClr val="111827"/>
          </a:solidFill>
          <a:ln w="1905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987100" y="886900"/>
            <a:ext cx="2336100" cy="1704000"/>
          </a:xfrm>
          <a:prstGeom prst="roundRect">
            <a:avLst>
              <a:gd name="adj" fmla="val 8649"/>
            </a:avLst>
          </a:prstGeom>
          <a:solidFill>
            <a:srgbClr val="111827"/>
          </a:solidFill>
          <a:ln w="19050" cap="flat" cmpd="sng">
            <a:solidFill>
              <a:srgbClr val="00C2E0"/>
            </a:solidFill>
            <a:prstDash val="solid"/>
            <a:round/>
            <a:headEnd type="none" w="sm" len="sm"/>
            <a:tailEnd type="none" w="sm" len="sm"/>
          </a:ln>
          <a:effectLst>
            <a:outerShdw blurRad="177800" dist="508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250575" y="965950"/>
            <a:ext cx="2118300" cy="30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FFFF"/>
                </a:solidFill>
              </a:rPr>
              <a:t>Unified process</a:t>
            </a:r>
            <a:endParaRPr sz="1600" b="1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Metodo utilizzato in UML per la stesura di codice informatico.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1) Descrizione del progetto.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 2) Scrittura dei casi d’uso.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 3) Implementazione codice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 4) Test del codice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2941550" y="984850"/>
            <a:ext cx="21183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FFFF"/>
                </a:solidFill>
              </a:rPr>
              <a:t>Kanban</a:t>
            </a:r>
            <a:endParaRPr sz="1600" b="1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Impiegato per la suddivisione dei compiti tra i membri del gruppo.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009025" y="948875"/>
            <a:ext cx="2118300" cy="1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FFFF"/>
                </a:solidFill>
              </a:rPr>
              <a:t>DevOps</a:t>
            </a:r>
            <a:endParaRPr sz="1600" b="1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Impiegato sia per lo sviluppo del codice che per il costante aggiornamento della descrizione del programma stesso.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FDD81F07-4F5B-A4D7-6216-C9FA89C0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B225CDF5-E874-E9F0-59F6-50A79803571C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D698CF9D-01C7-2D67-AE1B-DD75B2A8A39F}"/>
              </a:ext>
            </a:extLst>
          </p:cNvPr>
          <p:cNvSpPr/>
          <p:nvPr/>
        </p:nvSpPr>
        <p:spPr>
          <a:xfrm>
            <a:off x="-1951625" y="2105925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C39B3F3B-ABB2-3D92-F7ED-313292E1A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 descr="The diagram illustrates a process flow for user registration, including input fields for personal details, email verification, and notifications for successful registration.&#10;&#10;Il contenuto generato dall'IA potrebbe non essere corretto.">
            <a:extLst>
              <a:ext uri="{FF2B5EF4-FFF2-40B4-BE49-F238E27FC236}">
                <a16:creationId xmlns:a16="http://schemas.microsoft.com/office/drawing/2014/main" id="{263DD5E9-9454-86F7-00F6-709A4B7A3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16" y="485856"/>
            <a:ext cx="8740243" cy="450204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1D99869-A84A-4AD4-E8D3-85262C501955}"/>
              </a:ext>
            </a:extLst>
          </p:cNvPr>
          <p:cNvSpPr txBox="1"/>
          <p:nvPr/>
        </p:nvSpPr>
        <p:spPr>
          <a:xfrm>
            <a:off x="388620" y="24190"/>
            <a:ext cx="4183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Diagramma di Sequenze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5CD08C-9FC8-4FA9-383E-6DAB92C17836}"/>
              </a:ext>
            </a:extLst>
          </p:cNvPr>
          <p:cNvSpPr txBox="1"/>
          <p:nvPr/>
        </p:nvSpPr>
        <p:spPr>
          <a:xfrm>
            <a:off x="4884420" y="155602"/>
            <a:ext cx="1524000" cy="311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CDU3</a:t>
            </a:r>
          </a:p>
        </p:txBody>
      </p:sp>
    </p:spTree>
    <p:extLst>
      <p:ext uri="{BB962C8B-B14F-4D97-AF65-F5344CB8AC3E}">
        <p14:creationId xmlns:p14="http://schemas.microsoft.com/office/powerpoint/2010/main" val="3559370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6A148FDC-A1AD-1221-08E9-F04BD66A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21B5F551-5258-9867-9F36-13FAD5DCF2FE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3758EFF0-0D71-1711-D283-4629745F3DEF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05BBAAB4-5D1C-B8B1-0A96-D1501891D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5FF7808-D6BE-EAB8-2D39-87166C39AC8E}"/>
              </a:ext>
            </a:extLst>
          </p:cNvPr>
          <p:cNvSpPr txBox="1"/>
          <p:nvPr/>
        </p:nvSpPr>
        <p:spPr>
          <a:xfrm>
            <a:off x="6393180" y="982980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CDS1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6F054D5-63D3-65C8-76BE-A5A76351AB97}"/>
              </a:ext>
            </a:extLst>
          </p:cNvPr>
          <p:cNvSpPr txBox="1"/>
          <p:nvPr/>
        </p:nvSpPr>
        <p:spPr>
          <a:xfrm>
            <a:off x="693420" y="27432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E0F3ECA-B218-37F0-B438-B9FD15CE37CF}"/>
              </a:ext>
            </a:extLst>
          </p:cNvPr>
          <p:cNvSpPr txBox="1"/>
          <p:nvPr/>
        </p:nvSpPr>
        <p:spPr>
          <a:xfrm>
            <a:off x="175260" y="274320"/>
            <a:ext cx="5806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chemeClr val="bg1"/>
                </a:solidFill>
              </a:rPr>
              <a:t>Mockup</a:t>
            </a:r>
            <a:endParaRPr lang="it-IT" sz="3200" dirty="0">
              <a:solidFill>
                <a:schemeClr val="bg1"/>
              </a:solidFill>
            </a:endParaRPr>
          </a:p>
          <a:p>
            <a:r>
              <a:rPr lang="it-IT" sz="3200" dirty="0">
                <a:solidFill>
                  <a:schemeClr val="bg1"/>
                </a:solidFill>
              </a:rPr>
              <a:t>Schermata di registrazione</a:t>
            </a:r>
          </a:p>
        </p:txBody>
      </p:sp>
      <p:pic>
        <p:nvPicPr>
          <p:cNvPr id="8" name="Immagine 7" descr="The image displays a user interface for account registration with fields for name, surname, age, email, and password, along with buttons for creating an account.&#10;&#10;Il contenuto generato dall'IA potrebbe non essere corretto.">
            <a:extLst>
              <a:ext uri="{FF2B5EF4-FFF2-40B4-BE49-F238E27FC236}">
                <a16:creationId xmlns:a16="http://schemas.microsoft.com/office/drawing/2014/main" id="{DC826E17-7573-1E06-990E-1E91963CB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784" y="1907138"/>
            <a:ext cx="2896413" cy="2962042"/>
          </a:xfrm>
          <a:prstGeom prst="rect">
            <a:avLst/>
          </a:prstGeom>
        </p:spPr>
      </p:pic>
      <p:pic>
        <p:nvPicPr>
          <p:cNvPr id="10" name="Immagine 9" descr="The image shows a registration screen with fields for account creation, including an email input, and a success message displaying an ID number.&#10;&#10;Il contenuto generato dall'IA potrebbe non essere corretto.">
            <a:extLst>
              <a:ext uri="{FF2B5EF4-FFF2-40B4-BE49-F238E27FC236}">
                <a16:creationId xmlns:a16="http://schemas.microsoft.com/office/drawing/2014/main" id="{3749AA7C-FAEF-4EED-2F9A-E53854CC9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08" y="1849848"/>
            <a:ext cx="3084623" cy="302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1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 descr="Confirmation&#10;&#10;Il contenuto generato dall'IA potrebbe non essere corretto.">
            <a:extLst>
              <a:ext uri="{FF2B5EF4-FFF2-40B4-BE49-F238E27FC236}">
                <a16:creationId xmlns:a16="http://schemas.microsoft.com/office/drawing/2014/main" id="{3196B865-F501-F706-D668-0B2A795D1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29" y="205740"/>
            <a:ext cx="8649194" cy="48768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031684D-B349-BC41-F965-21D1263EC0CF}"/>
              </a:ext>
            </a:extLst>
          </p:cNvPr>
          <p:cNvSpPr txBox="1"/>
          <p:nvPr/>
        </p:nvSpPr>
        <p:spPr>
          <a:xfrm>
            <a:off x="6393180" y="982980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CDU1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9E23A6A3-4FD4-73D6-D80B-43182FEB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90C9F976-9A74-4BAB-BCDA-4B53F84B1B8A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391D77D8-4A30-C853-15B2-0CA152E7A44E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139C543C-35CB-BE8A-97BF-A08C5FCF7E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3271235-1DDE-1FAE-3303-D14001190561}"/>
              </a:ext>
            </a:extLst>
          </p:cNvPr>
          <p:cNvSpPr txBox="1"/>
          <p:nvPr/>
        </p:nvSpPr>
        <p:spPr>
          <a:xfrm>
            <a:off x="6393180" y="982980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CDS1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DA2AE3-5A37-D525-A428-CC60ED2D4E4C}"/>
              </a:ext>
            </a:extLst>
          </p:cNvPr>
          <p:cNvSpPr txBox="1"/>
          <p:nvPr/>
        </p:nvSpPr>
        <p:spPr>
          <a:xfrm>
            <a:off x="693420" y="27432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7CE84F3-CE27-63A3-3A9F-967443CCCCC7}"/>
              </a:ext>
            </a:extLst>
          </p:cNvPr>
          <p:cNvSpPr txBox="1"/>
          <p:nvPr/>
        </p:nvSpPr>
        <p:spPr>
          <a:xfrm>
            <a:off x="175260" y="274320"/>
            <a:ext cx="765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chemeClr val="bg1"/>
                </a:solidFill>
              </a:rPr>
              <a:t>Mockup</a:t>
            </a:r>
            <a:r>
              <a:rPr lang="it-IT" sz="3200" dirty="0">
                <a:solidFill>
                  <a:schemeClr val="bg1"/>
                </a:solidFill>
              </a:rPr>
              <a:t>    Acquisto Abbonamenti</a:t>
            </a:r>
          </a:p>
        </p:txBody>
      </p:sp>
      <p:pic>
        <p:nvPicPr>
          <p:cNvPr id="9" name="Immagine 8" descr="The image shows a streaming platform interface with various subscription options for Netflix, Prime Video, Disney+, Mediaset, and Rai Play.&#10;&#10;Il contenuto generato dall'IA potrebbe non essere corretto.">
            <a:extLst>
              <a:ext uri="{FF2B5EF4-FFF2-40B4-BE49-F238E27FC236}">
                <a16:creationId xmlns:a16="http://schemas.microsoft.com/office/drawing/2014/main" id="{B13C2161-FFBA-AD24-35E2-8A813D5C4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44" y="1074420"/>
            <a:ext cx="2912647" cy="3497580"/>
          </a:xfrm>
          <a:prstGeom prst="rect">
            <a:avLst/>
          </a:prstGeom>
        </p:spPr>
      </p:pic>
      <p:pic>
        <p:nvPicPr>
          <p:cNvPr id="12" name="Immagine 11" descr="The image shows a user interface with an Italian e-commerce page for selecting a monthly or annual plan and entering payment information, with no registered card.&#10;&#10;Il contenuto generato dall'IA potrebbe non essere corretto.">
            <a:extLst>
              <a:ext uri="{FF2B5EF4-FFF2-40B4-BE49-F238E27FC236}">
                <a16:creationId xmlns:a16="http://schemas.microsoft.com/office/drawing/2014/main" id="{D25FC7DF-F791-FF13-6B8B-6C4550C12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967" y="1074420"/>
            <a:ext cx="2405893" cy="3516128"/>
          </a:xfrm>
          <a:prstGeom prst="rect">
            <a:avLst/>
          </a:prstGeom>
        </p:spPr>
      </p:pic>
      <p:pic>
        <p:nvPicPr>
          <p:cNvPr id="14" name="Immagine 13" descr="The image shows a computer interface with a selection screen for an annual piano, indicating a payment registration confirmation.&#10;&#10;Il contenuto generato dall'IA potrebbe non essere corretto.">
            <a:extLst>
              <a:ext uri="{FF2B5EF4-FFF2-40B4-BE49-F238E27FC236}">
                <a16:creationId xmlns:a16="http://schemas.microsoft.com/office/drawing/2014/main" id="{38C6A217-626A-DB54-BD5F-68098271B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675" y="1100715"/>
            <a:ext cx="2791079" cy="1722495"/>
          </a:xfrm>
          <a:prstGeom prst="rect">
            <a:avLst/>
          </a:prstGeom>
        </p:spPr>
      </p:pic>
      <p:pic>
        <p:nvPicPr>
          <p:cNvPr id="16" name="Immagine 15" descr="X&#10;&#10;Il contenuto generato dall'IA potrebbe non essere corretto.">
            <a:extLst>
              <a:ext uri="{FF2B5EF4-FFF2-40B4-BE49-F238E27FC236}">
                <a16:creationId xmlns:a16="http://schemas.microsoft.com/office/drawing/2014/main" id="{46AB84E9-62A0-659B-4EEA-21965F6711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675" y="3106710"/>
            <a:ext cx="2791079" cy="148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26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93F9364A-842B-A060-C448-6CDE20DBB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F1B3EDD1-C129-BCE7-0D7D-EEFCF37687FA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BD8DFF6D-DAA8-6749-5C01-CE2628FA0383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153F4F1C-D8CF-1A25-F03E-96F2FE5A80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C8DCA78-6999-E7B8-2352-AECD118746DC}"/>
              </a:ext>
            </a:extLst>
          </p:cNvPr>
          <p:cNvSpPr txBox="1"/>
          <p:nvPr/>
        </p:nvSpPr>
        <p:spPr>
          <a:xfrm>
            <a:off x="6393180" y="982980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CDS1</a:t>
            </a:r>
          </a:p>
        </p:txBody>
      </p:sp>
      <p:pic>
        <p:nvPicPr>
          <p:cNvPr id="5" name="Immagine 4" descr="The diagram illustrates a series of interactions in a user account management system, including user verification, account creation, notification handling, and permission duplication for account sharing.&#10;&#10;Il contenuto generato dall'IA potrebbe non essere corretto.">
            <a:extLst>
              <a:ext uri="{FF2B5EF4-FFF2-40B4-BE49-F238E27FC236}">
                <a16:creationId xmlns:a16="http://schemas.microsoft.com/office/drawing/2014/main" id="{FAD3D8EC-4A62-B62F-D967-D1928A7CE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55" y="582846"/>
            <a:ext cx="8854440" cy="4312054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58FBAA-D41C-2839-3EA3-535D8A731037}"/>
              </a:ext>
            </a:extLst>
          </p:cNvPr>
          <p:cNvSpPr txBox="1"/>
          <p:nvPr/>
        </p:nvSpPr>
        <p:spPr>
          <a:xfrm>
            <a:off x="388620" y="7620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CDU11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05DEFA7-E489-9B59-EA0A-1A9311787187}"/>
              </a:ext>
            </a:extLst>
          </p:cNvPr>
          <p:cNvSpPr txBox="1"/>
          <p:nvPr/>
        </p:nvSpPr>
        <p:spPr>
          <a:xfrm>
            <a:off x="693420" y="27432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896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19E4F321-440B-AAF0-69EC-8D8C8138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E0B4E69F-910D-E90F-4405-55D3EC00F4AF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1AE48658-BF33-DE61-44FA-0383BBEE1206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DFCFF449-1A91-F25F-ED78-A99964AEF2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2A2356-3CDC-37AF-11ED-E00A169AD3A1}"/>
              </a:ext>
            </a:extLst>
          </p:cNvPr>
          <p:cNvSpPr txBox="1"/>
          <p:nvPr/>
        </p:nvSpPr>
        <p:spPr>
          <a:xfrm>
            <a:off x="6393180" y="982980"/>
            <a:ext cx="868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CDS1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E48900-1AF6-BF47-2725-56C853964AFD}"/>
              </a:ext>
            </a:extLst>
          </p:cNvPr>
          <p:cNvSpPr txBox="1"/>
          <p:nvPr/>
        </p:nvSpPr>
        <p:spPr>
          <a:xfrm>
            <a:off x="693420" y="27432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2598614-D8E1-9C5E-84D7-EE12485CB70D}"/>
              </a:ext>
            </a:extLst>
          </p:cNvPr>
          <p:cNvSpPr txBox="1"/>
          <p:nvPr/>
        </p:nvSpPr>
        <p:spPr>
          <a:xfrm>
            <a:off x="175260" y="274320"/>
            <a:ext cx="765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chemeClr val="bg1"/>
                </a:solidFill>
              </a:rPr>
              <a:t>Mockup</a:t>
            </a:r>
            <a:r>
              <a:rPr lang="it-IT" sz="3200" dirty="0">
                <a:solidFill>
                  <a:schemeClr val="bg1"/>
                </a:solidFill>
              </a:rPr>
              <a:t>    Presta Abbonamento</a:t>
            </a:r>
          </a:p>
        </p:txBody>
      </p:sp>
      <p:pic>
        <p:nvPicPr>
          <p:cNvPr id="6" name="Immagine 5" descr="The image displays a user interface for managing subscriptions and payments, including options to view, cancel, or change account details, with some subscriptions set to expire in June 2027.&#10;&#10;Il contenuto generato dall'IA potrebbe non essere corretto.">
            <a:extLst>
              <a:ext uri="{FF2B5EF4-FFF2-40B4-BE49-F238E27FC236}">
                <a16:creationId xmlns:a16="http://schemas.microsoft.com/office/drawing/2014/main" id="{124D6238-3CD4-7A92-050A-143504483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84" y="982980"/>
            <a:ext cx="4818415" cy="4039258"/>
          </a:xfrm>
          <a:prstGeom prst="rect">
            <a:avLst/>
          </a:prstGeom>
        </p:spPr>
      </p:pic>
      <p:pic>
        <p:nvPicPr>
          <p:cNvPr id="9" name="Immagine 8" descr="OK&#10;&#10;Il contenuto generato dall'IA potrebbe non essere corretto.">
            <a:extLst>
              <a:ext uri="{FF2B5EF4-FFF2-40B4-BE49-F238E27FC236}">
                <a16:creationId xmlns:a16="http://schemas.microsoft.com/office/drawing/2014/main" id="{27119C54-5F96-16B5-D8FD-A775EF84D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868" y="1414642"/>
            <a:ext cx="1940973" cy="1639787"/>
          </a:xfrm>
          <a:prstGeom prst="rect">
            <a:avLst/>
          </a:prstGeom>
        </p:spPr>
      </p:pic>
      <p:pic>
        <p:nvPicPr>
          <p:cNvPr id="11" name="Immagine 10" descr="OK&#10;&#10;Il contenuto generato dall'IA potrebbe non essere corretto.">
            <a:extLst>
              <a:ext uri="{FF2B5EF4-FFF2-40B4-BE49-F238E27FC236}">
                <a16:creationId xmlns:a16="http://schemas.microsoft.com/office/drawing/2014/main" id="{85862063-29B3-7011-EB52-9CD025225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616" y="3558107"/>
            <a:ext cx="2530059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83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00DBD7B3-3F7F-8CED-FB47-62B5715A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DAA03025-3C49-D151-D5B8-4BC446673E48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34C23DDE-88AA-99B3-4B83-25C199F9DCD8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01CF66D3-A5AA-D2DB-A2D7-18D51509FA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15141B-4B3F-F1B9-1815-E10CD10260DD}"/>
              </a:ext>
            </a:extLst>
          </p:cNvPr>
          <p:cNvSpPr txBox="1"/>
          <p:nvPr/>
        </p:nvSpPr>
        <p:spPr>
          <a:xfrm>
            <a:off x="122400" y="237600"/>
            <a:ext cx="3843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err="1">
                <a:solidFill>
                  <a:schemeClr val="bg1"/>
                </a:solidFill>
              </a:rPr>
              <a:t>UniTest</a:t>
            </a:r>
            <a:r>
              <a:rPr lang="it-IT" sz="3200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8" name="Immagine 7" descr="Forgot password.&#10;&#10;Il contenuto generato dall'IA potrebbe non essere corretto.">
            <a:extLst>
              <a:ext uri="{FF2B5EF4-FFF2-40B4-BE49-F238E27FC236}">
                <a16:creationId xmlns:a16="http://schemas.microsoft.com/office/drawing/2014/main" id="{DE2D37E0-97F5-E1C9-EE67-B6F614CE9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34" y="822375"/>
            <a:ext cx="2827692" cy="2319512"/>
          </a:xfrm>
          <a:prstGeom prst="rect">
            <a:avLst/>
          </a:prstGeom>
        </p:spPr>
      </p:pic>
      <p:pic>
        <p:nvPicPr>
          <p:cNvPr id="12" name="Immagine 11" descr="The image shows a password change screen on a device, indicating an error message that the entered passwords do not match, with options to confirm a new password and save it.&#10;&#10;Il contenuto generato dall'IA potrebbe non essere corretto.">
            <a:extLst>
              <a:ext uri="{FF2B5EF4-FFF2-40B4-BE49-F238E27FC236}">
                <a16:creationId xmlns:a16="http://schemas.microsoft.com/office/drawing/2014/main" id="{C15C2E2A-54E3-271F-FA0F-2DCA1A30C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682" y="440775"/>
            <a:ext cx="3017515" cy="2319513"/>
          </a:xfrm>
          <a:prstGeom prst="rect">
            <a:avLst/>
          </a:prstGeom>
        </p:spPr>
      </p:pic>
      <p:pic>
        <p:nvPicPr>
          <p:cNvPr id="14" name="Immagine 13" descr="The image displays an Italian interface with a message about canceling a subscription, options for different services (e.g., Prime Video, Netflix), and a field to input a friend's email.&#10;&#10;Il contenuto generato dall'IA potrebbe non essere corretto.">
            <a:extLst>
              <a:ext uri="{FF2B5EF4-FFF2-40B4-BE49-F238E27FC236}">
                <a16:creationId xmlns:a16="http://schemas.microsoft.com/office/drawing/2014/main" id="{8F9725A5-FB3D-BE4A-1139-D62461C867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2287" y="2850481"/>
            <a:ext cx="3843776" cy="205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55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Shape 196">
          <a:extLst>
            <a:ext uri="{FF2B5EF4-FFF2-40B4-BE49-F238E27FC236}">
              <a16:creationId xmlns:a16="http://schemas.microsoft.com/office/drawing/2014/main" id="{B643716E-9877-7C32-F8F4-7765D52E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>
            <a:extLst>
              <a:ext uri="{FF2B5EF4-FFF2-40B4-BE49-F238E27FC236}">
                <a16:creationId xmlns:a16="http://schemas.microsoft.com/office/drawing/2014/main" id="{7C86DD43-0C3E-27A9-D15C-C3B799DD4B24}"/>
              </a:ext>
            </a:extLst>
          </p:cNvPr>
          <p:cNvSpPr/>
          <p:nvPr/>
        </p:nvSpPr>
        <p:spPr>
          <a:xfrm>
            <a:off x="4693275" y="-1805100"/>
            <a:ext cx="6400800" cy="6400800"/>
          </a:xfrm>
          <a:prstGeom prst="ellipse">
            <a:avLst/>
          </a:prstGeom>
          <a:solidFill>
            <a:srgbClr val="1D6FE8">
              <a:alpha val="10199"/>
            </a:srgbClr>
          </a:solidFill>
          <a:ln w="12700" cap="flat" cmpd="sng">
            <a:solidFill>
              <a:srgbClr val="1D6F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AAD5C301-8FB1-DA48-AE1C-19DC2234FC8F}"/>
              </a:ext>
            </a:extLst>
          </p:cNvPr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6B35">
              <a:alpha val="10199"/>
            </a:srgbClr>
          </a:solidFill>
          <a:ln w="127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1" descr="/home/claude/logo_nobg.png">
            <a:extLst>
              <a:ext uri="{FF2B5EF4-FFF2-40B4-BE49-F238E27FC236}">
                <a16:creationId xmlns:a16="http://schemas.microsoft.com/office/drawing/2014/main" id="{807A94D7-3310-B7C6-F059-981A768137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9775" y="42797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71281A-B67D-4E86-CFC5-8FD5B7BDACAF}"/>
              </a:ext>
            </a:extLst>
          </p:cNvPr>
          <p:cNvSpPr txBox="1"/>
          <p:nvPr/>
        </p:nvSpPr>
        <p:spPr>
          <a:xfrm>
            <a:off x="693420" y="274320"/>
            <a:ext cx="25527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7BC3336-EB5E-6064-F3A9-AF5F4C364E8E}"/>
              </a:ext>
            </a:extLst>
          </p:cNvPr>
          <p:cNvSpPr txBox="1"/>
          <p:nvPr/>
        </p:nvSpPr>
        <p:spPr>
          <a:xfrm>
            <a:off x="769298" y="61110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>
                <a:solidFill>
                  <a:schemeClr val="bg1"/>
                </a:solidFill>
              </a:rPr>
              <a:t>Grazie per Attenzione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D4FC1EE-F184-67A5-78DD-24C8D03AA068}"/>
              </a:ext>
            </a:extLst>
          </p:cNvPr>
          <p:cNvSpPr txBox="1"/>
          <p:nvPr/>
        </p:nvSpPr>
        <p:spPr>
          <a:xfrm>
            <a:off x="693420" y="2958833"/>
            <a:ext cx="64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Da Maria Silvia Rota,</a:t>
            </a:r>
          </a:p>
          <a:p>
            <a:r>
              <a:rPr lang="it-IT" sz="2400" dirty="0">
                <a:solidFill>
                  <a:schemeClr val="bg1"/>
                </a:solidFill>
              </a:rPr>
              <a:t>Gabriele Pittori</a:t>
            </a:r>
          </a:p>
          <a:p>
            <a:r>
              <a:rPr lang="it-IT" sz="2400" dirty="0">
                <a:solidFill>
                  <a:schemeClr val="bg1"/>
                </a:solidFill>
              </a:rPr>
              <a:t>Filippo </a:t>
            </a:r>
            <a:r>
              <a:rPr lang="it-IT" sz="2400" dirty="0" err="1">
                <a:solidFill>
                  <a:schemeClr val="bg1"/>
                </a:solidFill>
              </a:rPr>
              <a:t>Giovagnini</a:t>
            </a:r>
            <a:endParaRPr lang="it-IT" sz="2400" dirty="0">
              <a:solidFill>
                <a:schemeClr val="bg1"/>
              </a:solidFill>
            </a:endParaRPr>
          </a:p>
          <a:p>
            <a:r>
              <a:rPr lang="it-IT" sz="2400" dirty="0">
                <a:solidFill>
                  <a:schemeClr val="bg1"/>
                </a:solidFill>
              </a:rPr>
              <a:t>Giacomo </a:t>
            </a:r>
            <a:r>
              <a:rPr lang="it-IT" sz="2400" dirty="0" err="1">
                <a:solidFill>
                  <a:schemeClr val="bg1"/>
                </a:solidFill>
              </a:rPr>
              <a:t>Tagliaventi</a:t>
            </a:r>
            <a:endParaRPr lang="it-IT" sz="2400" dirty="0">
              <a:solidFill>
                <a:schemeClr val="bg1"/>
              </a:solidFill>
            </a:endParaRPr>
          </a:p>
          <a:p>
            <a:endParaRPr lang="it-IT" sz="4800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96323DE-A133-65A1-129B-409AC75E7C76}"/>
              </a:ext>
            </a:extLst>
          </p:cNvPr>
          <p:cNvSpPr txBox="1"/>
          <p:nvPr/>
        </p:nvSpPr>
        <p:spPr>
          <a:xfrm>
            <a:off x="1492875" y="2421790"/>
            <a:ext cx="64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0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705</Words>
  <Application>Microsoft Office PowerPoint</Application>
  <PresentationFormat>Presentazione su schermo (16:9)</PresentationFormat>
  <Paragraphs>135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Quattrocento Sans</vt:lpstr>
      <vt:lpstr>Arial</vt:lpstr>
      <vt:lpstr>Courier New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ROTA MARIA SILVIA</cp:lastModifiedBy>
  <cp:revision>3</cp:revision>
  <dcterms:modified xsi:type="dcterms:W3CDTF">2026-06-20T15:04:36Z</dcterms:modified>
</cp:coreProperties>
</file>